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FFC049-4E30-ED27-57A0-5873E8F84972}">
          <p14:sldIdLst>
            <p14:sldId id="256"/>
          </p14:sldIdLst>
        </p14:section>
        <p14:section name="Context" id="{B6A59CD5-0E01-698B-4D75-89774070B802}">
          <p14:sldIdLst>
            <p14:sldId id="257"/>
            <p14:sldId id="258"/>
          </p14:sldIdLst>
        </p14:section>
        <p14:section name="Dashboards" id="{520AA441-C35C-13D9-B152-CE8A4772D3F1}">
          <p14:sldIdLst>
            <p14:sldId id="259"/>
            <p14:sldId id="260"/>
            <p14:sldId id="261"/>
            <p14:sldId id="262"/>
          </p14:sldIdLst>
        </p14:section>
        <p14:section name="Findings" id="{D1961286-C479-8EC9-B2BE-62881CC16EC2}">
          <p14:sldIdLst>
            <p14:sldId id="263"/>
            <p14:sldId id="264"/>
          </p14:sldIdLst>
        </p14:section>
        <p14:section name="Close" id="{81BE45EA-7F25-3E69-FB39-96077FEF02C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21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explain that it is an interactive Power BI report with four analytical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objective is to turn transaction data into a clear view of performance and operational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dataset fields and the main data preparation steps. Measures were created in Power BI for reusable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Executive Sales Overview: KPIs first, then monthly trend and category/segment/region visuals. Mention the slicers.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product page compares sales and profit and ranks the top 10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customer page combines segment mix, customer-level sales/profit, top customers and geography.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operations page compares shipping modes, payment modes and monthly order volume. Average shipping days is based on Order Date to Ship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discuss patterns you would investigate. Avoid stating a specific finding unless you have confirmed it in the live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recommendations should be based on the detailed values and comparisons revealed by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value of bringing the four views together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chemeClr val="accent6"/>
                </a:solidFill>
              </a:rPr>
              <a:t>SUPERSTORE RETAIL ANALYTICS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B93B8"/>
                </a:solidFill>
              </a:rPr>
              <a:t>SUPERSTORE RETAIL ANALYTICS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B9BFDA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783080"/>
            <a:ext cx="5852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9319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rgbClr val="D5D9EE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800" dirty="0">
                <a:solidFill>
                  <a:schemeClr val="accent2"/>
                </a:solidFill>
              </a:rPr>
              <a:t>SUPERSTORE</a:t>
            </a:r>
            <a:endParaRPr lang="en-US" sz="28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7830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Retail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Analytics</a:t>
            </a:r>
            <a:endParaRPr lang="en-US" sz="6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931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5D9EE"/>
                </a:solidFill>
              </a:rPr>
              <a:t>A four-page interactive Power BI dashboard</a:t>
            </a:r>
            <a:endParaRPr lang="en-US" sz="2200" dirty="0"/>
          </a:p>
        </p:txBody>
      </p:sp>
      <p:sp>
        <p:nvSpPr>
          <p:cNvPr id="5" name="Pillars"/>
          <p:cNvSpPr txBox="1"/>
          <p:nvPr/>
        </p:nvSpPr>
        <p:spPr>
          <a:xfrm>
            <a:off x="548640" y="4526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Sales</a:t>
            </a:r>
            <a:r>
              <a:rPr lang="en-US" sz="1800" b="1" dirty="0">
                <a:solidFill>
                  <a:srgbClr val="8B93B8"/>
                </a:solidFill>
              </a:rPr>
              <a:t>  •  </a:t>
            </a:r>
            <a:r>
              <a:rPr lang="en-US" sz="1800" b="1" dirty="0">
                <a:solidFill>
                  <a:schemeClr val="accent2"/>
                </a:solidFill>
              </a:rPr>
              <a:t>Products</a:t>
            </a:r>
            <a:r>
              <a:rPr lang="en-US" sz="1800" b="1" dirty="0">
                <a:solidFill>
                  <a:srgbClr val="8B93B8"/>
                </a:solidFill>
              </a:rPr>
              <a:t>  •  </a:t>
            </a:r>
            <a:r>
              <a:rPr lang="en-US" sz="1800" b="1" dirty="0">
                <a:solidFill>
                  <a:schemeClr val="accent3"/>
                </a:solidFill>
              </a:rPr>
              <a:t>Customers</a:t>
            </a:r>
            <a:r>
              <a:rPr lang="en-US" sz="1800" b="1" dirty="0">
                <a:solidFill>
                  <a:srgbClr val="8B93B8"/>
                </a:solidFill>
              </a:rPr>
              <a:t>  •  </a:t>
            </a:r>
            <a:r>
              <a:rPr lang="en-US" sz="1800" b="1" dirty="0">
                <a:solidFill>
                  <a:schemeClr val="accent4"/>
                </a:solidFill>
              </a:rPr>
              <a:t>Operations</a:t>
            </a:r>
            <a:endParaRPr lang="en-US" sz="1800" dirty="0"/>
          </a:p>
        </p:txBody>
      </p:sp>
      <p:sp>
        <p:nvSpPr>
          <p:cNvPr id="6" name="Author"/>
          <p:cNvSpPr txBox="1"/>
          <p:nvPr/>
        </p:nvSpPr>
        <p:spPr>
          <a:xfrm>
            <a:off x="54864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B9BFDA"/>
                </a:solidFill>
              </a:rPr>
              <a:t>Prepared by: </a:t>
            </a:r>
            <a:r>
              <a:rPr lang="en-US" sz="3600" b="1" dirty="0">
                <a:solidFill>
                  <a:schemeClr val="bg1"/>
                </a:solidFill>
              </a:rPr>
              <a:t>Vidhi Ahlawat</a:t>
            </a:r>
            <a:endParaRPr lang="en-US" sz="3600" dirty="0"/>
          </a:p>
        </p:txBody>
      </p:sp>
      <p:sp>
        <p:nvSpPr>
          <p:cNvPr id="7" name="Hero frame"/>
          <p:cNvSpPr/>
          <p:nvPr/>
        </p:nvSpPr>
        <p:spPr>
          <a:xfrm>
            <a:off x="6400800" y="1325880"/>
            <a:ext cx="5239512" cy="2944368"/>
          </a:xfrm>
          <a:prstGeom prst="roundRect">
            <a:avLst>
              <a:gd name="adj" fmla="val 372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Hero dashboard" descr="Executive Sales Overview dashboard in Power B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399032"/>
            <a:ext cx="5093208" cy="2862072"/>
          </a:xfrm>
          <a:prstGeom prst="rect">
            <a:avLst/>
          </a:prstGeom>
        </p:spPr>
      </p:pic>
      <p:sp>
        <p:nvSpPr>
          <p:cNvPr id="9" name="Tile 01"/>
          <p:cNvSpPr/>
          <p:nvPr/>
        </p:nvSpPr>
        <p:spPr>
          <a:xfrm>
            <a:off x="6400800" y="4617720"/>
            <a:ext cx="1170432" cy="1143000"/>
          </a:xfrm>
          <a:prstGeom prst="roundRect">
            <a:avLst>
              <a:gd name="adj" fmla="val 9600"/>
            </a:avLst>
          </a:prstGeom>
          <a:solidFill>
            <a:schemeClr val="bg1">
              <a:alpha val="9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ile number 01"/>
          <p:cNvSpPr txBox="1"/>
          <p:nvPr/>
        </p:nvSpPr>
        <p:spPr>
          <a:xfrm>
            <a:off x="6400800" y="47091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ile label 01"/>
          <p:cNvSpPr txBox="1"/>
          <p:nvPr/>
        </p:nvSpPr>
        <p:spPr>
          <a:xfrm>
            <a:off x="6400800" y="52578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Sales</a:t>
            </a:r>
            <a:endParaRPr lang="en-US" sz="1400" dirty="0"/>
          </a:p>
        </p:txBody>
      </p:sp>
      <p:sp>
        <p:nvSpPr>
          <p:cNvPr id="12" name="Tile 02"/>
          <p:cNvSpPr/>
          <p:nvPr/>
        </p:nvSpPr>
        <p:spPr>
          <a:xfrm>
            <a:off x="7757160" y="4617720"/>
            <a:ext cx="1170432" cy="1143000"/>
          </a:xfrm>
          <a:prstGeom prst="roundRect">
            <a:avLst>
              <a:gd name="adj" fmla="val 9600"/>
            </a:avLst>
          </a:prstGeom>
          <a:solidFill>
            <a:schemeClr val="bg1">
              <a:alpha val="9000"/>
            </a:schemeClr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ile number 02"/>
          <p:cNvSpPr txBox="1"/>
          <p:nvPr/>
        </p:nvSpPr>
        <p:spPr>
          <a:xfrm>
            <a:off x="7757160" y="47091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ile label 02"/>
          <p:cNvSpPr txBox="1"/>
          <p:nvPr/>
        </p:nvSpPr>
        <p:spPr>
          <a:xfrm>
            <a:off x="7757160" y="52578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Products</a:t>
            </a:r>
            <a:endParaRPr lang="en-US" sz="1400" dirty="0"/>
          </a:p>
        </p:txBody>
      </p:sp>
      <p:sp>
        <p:nvSpPr>
          <p:cNvPr id="15" name="Tile 03"/>
          <p:cNvSpPr/>
          <p:nvPr/>
        </p:nvSpPr>
        <p:spPr>
          <a:xfrm>
            <a:off x="9113520" y="4617720"/>
            <a:ext cx="1170432" cy="1143000"/>
          </a:xfrm>
          <a:prstGeom prst="roundRect">
            <a:avLst>
              <a:gd name="adj" fmla="val 9600"/>
            </a:avLst>
          </a:prstGeom>
          <a:solidFill>
            <a:schemeClr val="bg1">
              <a:alpha val="9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ile number 03"/>
          <p:cNvSpPr txBox="1"/>
          <p:nvPr/>
        </p:nvSpPr>
        <p:spPr>
          <a:xfrm>
            <a:off x="9113520" y="47091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ile label 03"/>
          <p:cNvSpPr txBox="1"/>
          <p:nvPr/>
        </p:nvSpPr>
        <p:spPr>
          <a:xfrm>
            <a:off x="9113520" y="52578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Customers</a:t>
            </a:r>
            <a:endParaRPr lang="en-US" sz="1400" dirty="0"/>
          </a:p>
        </p:txBody>
      </p:sp>
      <p:sp>
        <p:nvSpPr>
          <p:cNvPr id="18" name="Tile 04"/>
          <p:cNvSpPr/>
          <p:nvPr/>
        </p:nvSpPr>
        <p:spPr>
          <a:xfrm>
            <a:off x="10469880" y="4617720"/>
            <a:ext cx="1170432" cy="1143000"/>
          </a:xfrm>
          <a:prstGeom prst="roundRect">
            <a:avLst>
              <a:gd name="adj" fmla="val 9600"/>
            </a:avLst>
          </a:prstGeom>
          <a:solidFill>
            <a:schemeClr val="bg1">
              <a:alpha val="9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ile number 04"/>
          <p:cNvSpPr txBox="1"/>
          <p:nvPr/>
        </p:nvSpPr>
        <p:spPr>
          <a:xfrm>
            <a:off x="10469880" y="47091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ile label 04"/>
          <p:cNvSpPr txBox="1"/>
          <p:nvPr/>
        </p:nvSpPr>
        <p:spPr>
          <a:xfrm>
            <a:off x="10469880" y="52578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Operations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39E0856-DFA7-9AE1-D3B8-586FC7DFD5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43" t="22520" r="24104" b="9133"/>
          <a:stretch>
            <a:fillRect/>
          </a:stretch>
        </p:blipFill>
        <p:spPr>
          <a:xfrm>
            <a:off x="5852144" y="938036"/>
            <a:ext cx="6150895" cy="3336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Project Objective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Turning retail transaction data into a clear view of business performance</a:t>
            </a:r>
            <a:endParaRPr lang="en-US" sz="1600" dirty="0"/>
          </a:p>
        </p:txBody>
      </p:sp>
      <p:sp>
        <p:nvSpPr>
          <p:cNvPr id="5" name="Goal statement"/>
          <p:cNvSpPr txBox="1"/>
          <p:nvPr/>
        </p:nvSpPr>
        <p:spPr>
          <a:xfrm>
            <a:off x="548640" y="1965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goal of this project is to explore sales, profitability, product performance, customer behaviour and operational patterns through an interactive Power BI report.</a:t>
            </a:r>
            <a:endParaRPr lang="en-US" sz="2000" dirty="0"/>
          </a:p>
        </p:txBody>
      </p:sp>
      <p:sp>
        <p:nvSpPr>
          <p:cNvPr id="6" name="Objective card 1"/>
          <p:cNvSpPr/>
          <p:nvPr/>
        </p:nvSpPr>
        <p:spPr>
          <a:xfrm>
            <a:off x="548640" y="3108960"/>
            <a:ext cx="2567178" cy="283464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Objective 1 circle"/>
          <p:cNvSpPr/>
          <p:nvPr/>
        </p:nvSpPr>
        <p:spPr>
          <a:xfrm>
            <a:off x="822960" y="3383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Objective 1 icon" descr="ChartLi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3554730"/>
            <a:ext cx="342900" cy="342900"/>
          </a:xfrm>
          <a:prstGeom prst="rect">
            <a:avLst/>
          </a:prstGeom>
        </p:spPr>
      </p:pic>
      <p:sp>
        <p:nvSpPr>
          <p:cNvPr id="9" name="Objective heading 1"/>
          <p:cNvSpPr txBox="1"/>
          <p:nvPr/>
        </p:nvSpPr>
        <p:spPr>
          <a:xfrm>
            <a:off x="822960" y="4206240"/>
            <a:ext cx="201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Measure performance</a:t>
            </a:r>
            <a:endParaRPr lang="en-US" sz="1800" dirty="0"/>
          </a:p>
        </p:txBody>
      </p:sp>
      <p:sp>
        <p:nvSpPr>
          <p:cNvPr id="10" name="Objective text 1"/>
          <p:cNvSpPr txBox="1"/>
          <p:nvPr/>
        </p:nvSpPr>
        <p:spPr>
          <a:xfrm>
            <a:off x="822960" y="4937760"/>
            <a:ext cx="2018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Track sales, profit, orders, customers and margin.</a:t>
            </a:r>
            <a:endParaRPr lang="en-US" sz="1400" dirty="0"/>
          </a:p>
        </p:txBody>
      </p:sp>
      <p:sp>
        <p:nvSpPr>
          <p:cNvPr id="11" name="Objective card 2"/>
          <p:cNvSpPr/>
          <p:nvPr/>
        </p:nvSpPr>
        <p:spPr>
          <a:xfrm>
            <a:off x="3390138" y="3108960"/>
            <a:ext cx="2567178" cy="283464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Objective 2 circle"/>
          <p:cNvSpPr/>
          <p:nvPr/>
        </p:nvSpPr>
        <p:spPr>
          <a:xfrm>
            <a:off x="3664458" y="33832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Objective 2 icon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3554730"/>
            <a:ext cx="342900" cy="342900"/>
          </a:xfrm>
          <a:prstGeom prst="rect">
            <a:avLst/>
          </a:prstGeom>
        </p:spPr>
      </p:pic>
      <p:sp>
        <p:nvSpPr>
          <p:cNvPr id="14" name="Objective heading 2"/>
          <p:cNvSpPr txBox="1"/>
          <p:nvPr/>
        </p:nvSpPr>
        <p:spPr>
          <a:xfrm>
            <a:off x="3664458" y="4206240"/>
            <a:ext cx="201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Find patterns</a:t>
            </a:r>
            <a:endParaRPr lang="en-US" sz="1800" dirty="0"/>
          </a:p>
        </p:txBody>
      </p:sp>
      <p:sp>
        <p:nvSpPr>
          <p:cNvPr id="15" name="Objective text 2"/>
          <p:cNvSpPr txBox="1"/>
          <p:nvPr/>
        </p:nvSpPr>
        <p:spPr>
          <a:xfrm>
            <a:off x="3664458" y="4937760"/>
            <a:ext cx="2018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Compare categories, regions, customer segments and time periods.</a:t>
            </a:r>
            <a:endParaRPr lang="en-US" sz="1400" dirty="0"/>
          </a:p>
        </p:txBody>
      </p:sp>
      <p:sp>
        <p:nvSpPr>
          <p:cNvPr id="16" name="Objective card 3"/>
          <p:cNvSpPr/>
          <p:nvPr/>
        </p:nvSpPr>
        <p:spPr>
          <a:xfrm>
            <a:off x="6231636" y="3108960"/>
            <a:ext cx="2567178" cy="283464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Objective 3 circle"/>
          <p:cNvSpPr/>
          <p:nvPr/>
        </p:nvSpPr>
        <p:spPr>
          <a:xfrm>
            <a:off x="6505956" y="33832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Objective 3 icon" descr="Tru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406" y="3554730"/>
            <a:ext cx="342900" cy="342900"/>
          </a:xfrm>
          <a:prstGeom prst="rect">
            <a:avLst/>
          </a:prstGeom>
        </p:spPr>
      </p:pic>
      <p:sp>
        <p:nvSpPr>
          <p:cNvPr id="19" name="Objective heading 3"/>
          <p:cNvSpPr txBox="1"/>
          <p:nvPr/>
        </p:nvSpPr>
        <p:spPr>
          <a:xfrm>
            <a:off x="6505956" y="4206240"/>
            <a:ext cx="201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Explore operations</a:t>
            </a:r>
            <a:endParaRPr lang="en-US" sz="1800" dirty="0"/>
          </a:p>
        </p:txBody>
      </p:sp>
      <p:sp>
        <p:nvSpPr>
          <p:cNvPr id="20" name="Objective text 3"/>
          <p:cNvSpPr txBox="1"/>
          <p:nvPr/>
        </p:nvSpPr>
        <p:spPr>
          <a:xfrm>
            <a:off x="6505956" y="4937760"/>
            <a:ext cx="2018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Review shipping modes, payment modes and shipping-time patterns.</a:t>
            </a:r>
            <a:endParaRPr lang="en-US" sz="1400" dirty="0"/>
          </a:p>
        </p:txBody>
      </p:sp>
      <p:sp>
        <p:nvSpPr>
          <p:cNvPr id="21" name="Objective card 4"/>
          <p:cNvSpPr/>
          <p:nvPr/>
        </p:nvSpPr>
        <p:spPr>
          <a:xfrm>
            <a:off x="9073134" y="3108960"/>
            <a:ext cx="2567178" cy="283464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Objective 4 circle"/>
          <p:cNvSpPr/>
          <p:nvPr/>
        </p:nvSpPr>
        <p:spPr>
          <a:xfrm>
            <a:off x="9347454" y="338328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Objective 4 icon" descr="SlidersH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4" y="3554730"/>
            <a:ext cx="342900" cy="342900"/>
          </a:xfrm>
          <a:prstGeom prst="rect">
            <a:avLst/>
          </a:prstGeom>
        </p:spPr>
      </p:pic>
      <p:sp>
        <p:nvSpPr>
          <p:cNvPr id="24" name="Objective heading 4"/>
          <p:cNvSpPr txBox="1"/>
          <p:nvPr/>
        </p:nvSpPr>
        <p:spPr>
          <a:xfrm>
            <a:off x="9347454" y="4206240"/>
            <a:ext cx="201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Support decisions</a:t>
            </a:r>
            <a:endParaRPr lang="en-US" sz="1800" dirty="0"/>
          </a:p>
        </p:txBody>
      </p:sp>
      <p:sp>
        <p:nvSpPr>
          <p:cNvPr id="25" name="Objective text 4"/>
          <p:cNvSpPr txBox="1"/>
          <p:nvPr/>
        </p:nvSpPr>
        <p:spPr>
          <a:xfrm>
            <a:off x="9347454" y="4937760"/>
            <a:ext cx="2018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Use filters and visuals to investigate performance.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Dataset Overview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Superstore sales transactions covering 2019–2020</a:t>
            </a:r>
            <a:endParaRPr lang="en-US" sz="1600" dirty="0"/>
          </a:p>
        </p:txBody>
      </p:sp>
      <p:sp>
        <p:nvSpPr>
          <p:cNvPr id="5" name="Time period card"/>
          <p:cNvSpPr/>
          <p:nvPr/>
        </p:nvSpPr>
        <p:spPr>
          <a:xfrm>
            <a:off x="548640" y="1874520"/>
            <a:ext cx="356616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ime period label"/>
          <p:cNvSpPr txBox="1"/>
          <p:nvPr/>
        </p:nvSpPr>
        <p:spPr>
          <a:xfrm>
            <a:off x="82296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TIME PERIOD</a:t>
            </a:r>
            <a:endParaRPr lang="en-US" sz="1200" dirty="0"/>
          </a:p>
        </p:txBody>
      </p:sp>
      <p:sp>
        <p:nvSpPr>
          <p:cNvPr id="7" name="Time period value"/>
          <p:cNvSpPr txBox="1"/>
          <p:nvPr/>
        </p:nvSpPr>
        <p:spPr>
          <a:xfrm>
            <a:off x="822960" y="2286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2019–2020</a:t>
            </a:r>
            <a:endParaRPr lang="en-US" sz="4000" dirty="0"/>
          </a:p>
        </p:txBody>
      </p:sp>
      <p:sp>
        <p:nvSpPr>
          <p:cNvPr id="8" name="Time period caption"/>
          <p:cNvSpPr txBox="1"/>
          <p:nvPr/>
        </p:nvSpPr>
        <p:spPr>
          <a:xfrm>
            <a:off x="82296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BFDA"/>
                </a:solidFill>
              </a:rPr>
              <a:t>order dates</a:t>
            </a:r>
            <a:endParaRPr lang="en-US" sz="1400" dirty="0"/>
          </a:p>
        </p:txBody>
      </p:sp>
      <p:sp>
        <p:nvSpPr>
          <p:cNvPr id="9" name="Data fields card"/>
          <p:cNvSpPr/>
          <p:nvPr/>
        </p:nvSpPr>
        <p:spPr>
          <a:xfrm>
            <a:off x="548640" y="347472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Data fields heading"/>
          <p:cNvSpPr txBox="1"/>
          <p:nvPr/>
        </p:nvSpPr>
        <p:spPr>
          <a:xfrm>
            <a:off x="82296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fields</a:t>
            </a:r>
            <a:endParaRPr lang="en-US" sz="1600" dirty="0"/>
          </a:p>
        </p:txBody>
      </p:sp>
      <p:sp>
        <p:nvSpPr>
          <p:cNvPr id="11" name="Data fields text"/>
          <p:cNvSpPr txBox="1"/>
          <p:nvPr/>
        </p:nvSpPr>
        <p:spPr>
          <a:xfrm>
            <a:off x="82296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Orders, customers, products, dates, shipping, sales and profit</a:t>
            </a:r>
            <a:endParaRPr lang="en-US" sz="1400" dirty="0"/>
          </a:p>
        </p:txBody>
      </p:sp>
      <p:sp>
        <p:nvSpPr>
          <p:cNvPr id="12" name="Data preparation card"/>
          <p:cNvSpPr/>
          <p:nvPr/>
        </p:nvSpPr>
        <p:spPr>
          <a:xfrm>
            <a:off x="548640" y="484632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Data prep heading"/>
          <p:cNvSpPr txBox="1"/>
          <p:nvPr/>
        </p:nvSpPr>
        <p:spPr>
          <a:xfrm>
            <a:off x="822960" y="4956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preparation</a:t>
            </a:r>
            <a:endParaRPr lang="en-US" sz="1600" dirty="0"/>
          </a:p>
        </p:txBody>
      </p:sp>
      <p:sp>
        <p:nvSpPr>
          <p:cNvPr id="14" name="Data prep text"/>
          <p:cNvSpPr txBox="1"/>
          <p:nvPr/>
        </p:nvSpPr>
        <p:spPr>
          <a:xfrm>
            <a:off x="822960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Removed unusable helper columns and the all-NA Returns column; retained date fields.</a:t>
            </a:r>
            <a:endParaRPr lang="en-US" sz="1400" dirty="0"/>
          </a:p>
        </p:txBody>
      </p:sp>
      <p:sp>
        <p:nvSpPr>
          <p:cNvPr id="15" name="Key fields card"/>
          <p:cNvSpPr/>
          <p:nvPr/>
        </p:nvSpPr>
        <p:spPr>
          <a:xfrm>
            <a:off x="4389120" y="1874520"/>
            <a:ext cx="72511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Key fields circle"/>
          <p:cNvSpPr/>
          <p:nvPr/>
        </p:nvSpPr>
        <p:spPr>
          <a:xfrm>
            <a:off x="4663440" y="20299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Key fields icon" descr="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144268"/>
            <a:ext cx="228600" cy="228600"/>
          </a:xfrm>
          <a:prstGeom prst="rect">
            <a:avLst/>
          </a:prstGeom>
        </p:spPr>
      </p:pic>
      <p:sp>
        <p:nvSpPr>
          <p:cNvPr id="18" name="Key fields heading"/>
          <p:cNvSpPr txBox="1"/>
          <p:nvPr/>
        </p:nvSpPr>
        <p:spPr>
          <a:xfrm>
            <a:off x="5257800" y="2029968"/>
            <a:ext cx="6153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fields used</a:t>
            </a:r>
            <a:endParaRPr lang="en-US" sz="1800" dirty="0"/>
          </a:p>
        </p:txBody>
      </p:sp>
      <p:sp>
        <p:nvSpPr>
          <p:cNvPr id="19" name="Key fields list"/>
          <p:cNvSpPr txBox="1"/>
          <p:nvPr/>
        </p:nvSpPr>
        <p:spPr>
          <a:xfrm>
            <a:off x="4663440" y="2606040"/>
            <a:ext cx="670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 Date and Ship Date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Category, Sub-Category and Product Name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Name, Segment, Region, State and City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Sales, Profit, Quantity, Ship Mode and Payment Mode</a:t>
            </a:r>
            <a:endParaRPr lang="en-US" sz="1400" dirty="0"/>
          </a:p>
        </p:txBody>
      </p:sp>
      <p:sp>
        <p:nvSpPr>
          <p:cNvPr id="20" name="Core measures card"/>
          <p:cNvSpPr/>
          <p:nvPr/>
        </p:nvSpPr>
        <p:spPr>
          <a:xfrm>
            <a:off x="4389120" y="4069080"/>
            <a:ext cx="7251192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Measures circle"/>
          <p:cNvSpPr/>
          <p:nvPr/>
        </p:nvSpPr>
        <p:spPr>
          <a:xfrm>
            <a:off x="4663440" y="4206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Measures icon" descr="Calculato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4320540"/>
            <a:ext cx="228600" cy="228600"/>
          </a:xfrm>
          <a:prstGeom prst="rect">
            <a:avLst/>
          </a:prstGeom>
        </p:spPr>
      </p:pic>
      <p:sp>
        <p:nvSpPr>
          <p:cNvPr id="23" name="Measures heading"/>
          <p:cNvSpPr txBox="1"/>
          <p:nvPr/>
        </p:nvSpPr>
        <p:spPr>
          <a:xfrm>
            <a:off x="5257800" y="4206240"/>
            <a:ext cx="6153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Core measures created in Power BI</a:t>
            </a:r>
            <a:endParaRPr lang="en-US" sz="1800" dirty="0"/>
          </a:p>
        </p:txBody>
      </p:sp>
      <p:sp>
        <p:nvSpPr>
          <p:cNvPr id="24" name="Measure chip 1"/>
          <p:cNvSpPr/>
          <p:nvPr/>
        </p:nvSpPr>
        <p:spPr>
          <a:xfrm>
            <a:off x="4663440" y="4846320"/>
            <a:ext cx="1572768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Measure label 1"/>
          <p:cNvSpPr txBox="1"/>
          <p:nvPr/>
        </p:nvSpPr>
        <p:spPr>
          <a:xfrm>
            <a:off x="4709160" y="4846320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Total Sales</a:t>
            </a:r>
            <a:endParaRPr lang="en-US" sz="1400" dirty="0"/>
          </a:p>
        </p:txBody>
      </p:sp>
      <p:sp>
        <p:nvSpPr>
          <p:cNvPr id="26" name="Measure chip 2"/>
          <p:cNvSpPr/>
          <p:nvPr/>
        </p:nvSpPr>
        <p:spPr>
          <a:xfrm>
            <a:off x="6373368" y="4846320"/>
            <a:ext cx="1572768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Measure label 2"/>
          <p:cNvSpPr txBox="1"/>
          <p:nvPr/>
        </p:nvSpPr>
        <p:spPr>
          <a:xfrm>
            <a:off x="6419088" y="4846320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Total Profit</a:t>
            </a:r>
            <a:endParaRPr lang="en-US" sz="1400" dirty="0"/>
          </a:p>
        </p:txBody>
      </p:sp>
      <p:sp>
        <p:nvSpPr>
          <p:cNvPr id="28" name="Measure chip 3"/>
          <p:cNvSpPr/>
          <p:nvPr/>
        </p:nvSpPr>
        <p:spPr>
          <a:xfrm>
            <a:off x="8083296" y="4846320"/>
            <a:ext cx="1572768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Measure label 3"/>
          <p:cNvSpPr txBox="1"/>
          <p:nvPr/>
        </p:nvSpPr>
        <p:spPr>
          <a:xfrm>
            <a:off x="8129016" y="4846320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Total Orders</a:t>
            </a:r>
            <a:endParaRPr lang="en-US" sz="1400" dirty="0"/>
          </a:p>
        </p:txBody>
      </p:sp>
      <p:sp>
        <p:nvSpPr>
          <p:cNvPr id="30" name="Measure chip 4"/>
          <p:cNvSpPr/>
          <p:nvPr/>
        </p:nvSpPr>
        <p:spPr>
          <a:xfrm>
            <a:off x="9793224" y="4846320"/>
            <a:ext cx="1572768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Measure label 4"/>
          <p:cNvSpPr txBox="1"/>
          <p:nvPr/>
        </p:nvSpPr>
        <p:spPr>
          <a:xfrm>
            <a:off x="9838944" y="4846320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Total Customers</a:t>
            </a:r>
            <a:endParaRPr lang="en-US" sz="1400" dirty="0"/>
          </a:p>
        </p:txBody>
      </p:sp>
      <p:sp>
        <p:nvSpPr>
          <p:cNvPr id="32" name="Measure chip 5"/>
          <p:cNvSpPr/>
          <p:nvPr/>
        </p:nvSpPr>
        <p:spPr>
          <a:xfrm>
            <a:off x="4663440" y="5468112"/>
            <a:ext cx="1572768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Measure label 5"/>
          <p:cNvSpPr txBox="1"/>
          <p:nvPr/>
        </p:nvSpPr>
        <p:spPr>
          <a:xfrm>
            <a:off x="4709160" y="5468112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Total Quantity</a:t>
            </a:r>
            <a:endParaRPr lang="en-US" sz="1400" dirty="0"/>
          </a:p>
        </p:txBody>
      </p:sp>
      <p:sp>
        <p:nvSpPr>
          <p:cNvPr id="34" name="Measure chip 6"/>
          <p:cNvSpPr/>
          <p:nvPr/>
        </p:nvSpPr>
        <p:spPr>
          <a:xfrm>
            <a:off x="6373368" y="5468112"/>
            <a:ext cx="1572768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Measure label 6"/>
          <p:cNvSpPr txBox="1"/>
          <p:nvPr/>
        </p:nvSpPr>
        <p:spPr>
          <a:xfrm>
            <a:off x="6419088" y="5468112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Profit Margin</a:t>
            </a:r>
            <a:endParaRPr lang="en-US" sz="1400" dirty="0"/>
          </a:p>
        </p:txBody>
      </p:sp>
      <p:sp>
        <p:nvSpPr>
          <p:cNvPr id="36" name="Measure chip 7"/>
          <p:cNvSpPr/>
          <p:nvPr/>
        </p:nvSpPr>
        <p:spPr>
          <a:xfrm>
            <a:off x="8083296" y="5468112"/>
            <a:ext cx="1572768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Measure label 7"/>
          <p:cNvSpPr txBox="1"/>
          <p:nvPr/>
        </p:nvSpPr>
        <p:spPr>
          <a:xfrm>
            <a:off x="8129016" y="5468112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Average Order Value</a:t>
            </a:r>
            <a:endParaRPr lang="en-US" sz="1400" dirty="0"/>
          </a:p>
        </p:txBody>
      </p:sp>
      <p:sp>
        <p:nvSpPr>
          <p:cNvPr id="38" name="Measure chip 8"/>
          <p:cNvSpPr/>
          <p:nvPr/>
        </p:nvSpPr>
        <p:spPr>
          <a:xfrm>
            <a:off x="9793224" y="5468112"/>
            <a:ext cx="1572768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Measure label 8"/>
          <p:cNvSpPr txBox="1"/>
          <p:nvPr/>
        </p:nvSpPr>
        <p:spPr>
          <a:xfrm>
            <a:off x="9838944" y="5468112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Average Shipping Days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DASHBOARD 1 OF 4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Executive Sales Overview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9BFDA"/>
                </a:solidFill>
              </a:rPr>
              <a:t>A high-level snapshot of business performance</a:t>
            </a:r>
            <a:endParaRPr lang="en-US" sz="1600" dirty="0"/>
          </a:p>
        </p:txBody>
      </p:sp>
      <p:sp>
        <p:nvSpPr>
          <p:cNvPr id="5" name="Dashboard frame"/>
          <p:cNvSpPr/>
          <p:nvPr/>
        </p:nvSpPr>
        <p:spPr>
          <a:xfrm>
            <a:off x="548640" y="2011680"/>
            <a:ext cx="6867144" cy="3926776"/>
          </a:xfrm>
          <a:prstGeom prst="roundRect">
            <a:avLst>
              <a:gd name="adj" fmla="val 232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Dashboard screenshot" descr="Executive Sales Overview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84832"/>
            <a:ext cx="6720840" cy="3780472"/>
          </a:xfrm>
          <a:prstGeom prst="rect">
            <a:avLst/>
          </a:prstGeom>
        </p:spPr>
      </p:pic>
      <p:sp>
        <p:nvSpPr>
          <p:cNvPr id="7" name="Info panel"/>
          <p:cNvSpPr/>
          <p:nvPr/>
        </p:nvSpPr>
        <p:spPr>
          <a:xfrm>
            <a:off x="7735824" y="2011680"/>
            <a:ext cx="3904488" cy="3926776"/>
          </a:xfrm>
          <a:prstGeom prst="roundRect">
            <a:avLst>
              <a:gd name="adj" fmla="val 2810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age circle"/>
          <p:cNvSpPr/>
          <p:nvPr/>
        </p:nvSpPr>
        <p:spPr>
          <a:xfrm>
            <a:off x="8010144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Page icon" descr="ChartLin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2354580"/>
            <a:ext cx="228600" cy="228600"/>
          </a:xfrm>
          <a:prstGeom prst="rect">
            <a:avLst/>
          </a:prstGeom>
        </p:spPr>
      </p:pic>
      <p:sp>
        <p:nvSpPr>
          <p:cNvPr id="10" name="Panel heading"/>
          <p:cNvSpPr txBox="1"/>
          <p:nvPr/>
        </p:nvSpPr>
        <p:spPr>
          <a:xfrm>
            <a:off x="8604504" y="22402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this page shows</a:t>
            </a:r>
            <a:endParaRPr lang="en-US" sz="1800" dirty="0"/>
          </a:p>
        </p:txBody>
      </p:sp>
      <p:sp>
        <p:nvSpPr>
          <p:cNvPr id="11" name="Panel list"/>
          <p:cNvSpPr txBox="1"/>
          <p:nvPr/>
        </p:nvSpPr>
        <p:spPr>
          <a:xfrm>
            <a:off x="8010144" y="2880360"/>
            <a:ext cx="3355848" cy="287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Sales, profit, orders, margin and customer KPIs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Monthly sales trend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Sales by segment and category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Profit by region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Dropdown filters for year, region, category, segment and payment mode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3D6EFD-3DEF-B9DE-EE88-23ED3472EB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67" t="23546" r="16287" b="6730"/>
          <a:stretch>
            <a:fillRect/>
          </a:stretch>
        </p:blipFill>
        <p:spPr>
          <a:xfrm>
            <a:off x="122830" y="1938528"/>
            <a:ext cx="74940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2"/>
                </a:solidFill>
              </a:rPr>
              <a:t>DASHBOARD 2 OF 4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Product &amp; Category Analysis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9BFDA"/>
                </a:solidFill>
              </a:rPr>
              <a:t>Comparing category performance and identifying leading products</a:t>
            </a:r>
            <a:endParaRPr lang="en-US" sz="1600" dirty="0"/>
          </a:p>
        </p:txBody>
      </p:sp>
      <p:sp>
        <p:nvSpPr>
          <p:cNvPr id="5" name="Dashboard frame"/>
          <p:cNvSpPr/>
          <p:nvPr/>
        </p:nvSpPr>
        <p:spPr>
          <a:xfrm>
            <a:off x="548640" y="2011680"/>
            <a:ext cx="6867144" cy="3926776"/>
          </a:xfrm>
          <a:prstGeom prst="roundRect">
            <a:avLst>
              <a:gd name="adj" fmla="val 232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Dashboard screenshot" descr="Product &amp; Category Analysis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84832"/>
            <a:ext cx="6720840" cy="3780472"/>
          </a:xfrm>
          <a:prstGeom prst="rect">
            <a:avLst/>
          </a:prstGeom>
        </p:spPr>
      </p:pic>
      <p:sp>
        <p:nvSpPr>
          <p:cNvPr id="7" name="Info panel"/>
          <p:cNvSpPr/>
          <p:nvPr/>
        </p:nvSpPr>
        <p:spPr>
          <a:xfrm>
            <a:off x="7735824" y="2011680"/>
            <a:ext cx="3904488" cy="3926776"/>
          </a:xfrm>
          <a:prstGeom prst="roundRect">
            <a:avLst>
              <a:gd name="adj" fmla="val 2810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age circle"/>
          <p:cNvSpPr/>
          <p:nvPr/>
        </p:nvSpPr>
        <p:spPr>
          <a:xfrm>
            <a:off x="8010144" y="22402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Page icon" descr="BoxOp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2354580"/>
            <a:ext cx="228600" cy="228600"/>
          </a:xfrm>
          <a:prstGeom prst="rect">
            <a:avLst/>
          </a:prstGeom>
        </p:spPr>
      </p:pic>
      <p:sp>
        <p:nvSpPr>
          <p:cNvPr id="10" name="Panel heading"/>
          <p:cNvSpPr txBox="1"/>
          <p:nvPr/>
        </p:nvSpPr>
        <p:spPr>
          <a:xfrm>
            <a:off x="8604504" y="22402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this page shows</a:t>
            </a:r>
            <a:endParaRPr lang="en-US" sz="1800" dirty="0"/>
          </a:p>
        </p:txBody>
      </p:sp>
      <p:sp>
        <p:nvSpPr>
          <p:cNvPr id="11" name="Panel list"/>
          <p:cNvSpPr txBox="1"/>
          <p:nvPr/>
        </p:nvSpPr>
        <p:spPr>
          <a:xfrm>
            <a:off x="8010144" y="2880360"/>
            <a:ext cx="3355848" cy="287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Sales and profit KPI cards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Sales by category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Profit by category and sub-category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Top 10 products by sales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Filters for category, sub-category and year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630C0A-6AC8-E11C-7414-23841C38ED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41" t="22862" r="24112" b="6817"/>
          <a:stretch>
            <a:fillRect/>
          </a:stretch>
        </p:blipFill>
        <p:spPr>
          <a:xfrm>
            <a:off x="150309" y="1795363"/>
            <a:ext cx="7745536" cy="4253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DASHBOARD 3 OF 4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Customer &amp; Regional Analysis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9BFDA"/>
                </a:solidFill>
              </a:rPr>
              <a:t>Exploring customer value and geographic patterns</a:t>
            </a:r>
            <a:endParaRPr lang="en-US" sz="1600" dirty="0"/>
          </a:p>
        </p:txBody>
      </p:sp>
      <p:sp>
        <p:nvSpPr>
          <p:cNvPr id="5" name="Dashboard frame"/>
          <p:cNvSpPr/>
          <p:nvPr/>
        </p:nvSpPr>
        <p:spPr>
          <a:xfrm>
            <a:off x="548640" y="2011680"/>
            <a:ext cx="6867144" cy="3926776"/>
          </a:xfrm>
          <a:prstGeom prst="roundRect">
            <a:avLst>
              <a:gd name="adj" fmla="val 232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Dashboard screenshot" descr="Customer &amp; Regional Analysis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84832"/>
            <a:ext cx="6720840" cy="3780472"/>
          </a:xfrm>
          <a:prstGeom prst="rect">
            <a:avLst/>
          </a:prstGeom>
        </p:spPr>
      </p:pic>
      <p:sp>
        <p:nvSpPr>
          <p:cNvPr id="7" name="Info panel"/>
          <p:cNvSpPr/>
          <p:nvPr/>
        </p:nvSpPr>
        <p:spPr>
          <a:xfrm>
            <a:off x="7735824" y="2011680"/>
            <a:ext cx="3904488" cy="3926776"/>
          </a:xfrm>
          <a:prstGeom prst="roundRect">
            <a:avLst>
              <a:gd name="adj" fmla="val 2810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age circle"/>
          <p:cNvSpPr/>
          <p:nvPr/>
        </p:nvSpPr>
        <p:spPr>
          <a:xfrm>
            <a:off x="8010144" y="22402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Page icon" descr="User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2354580"/>
            <a:ext cx="228600" cy="228600"/>
          </a:xfrm>
          <a:prstGeom prst="rect">
            <a:avLst/>
          </a:prstGeom>
        </p:spPr>
      </p:pic>
      <p:sp>
        <p:nvSpPr>
          <p:cNvPr id="10" name="Panel heading"/>
          <p:cNvSpPr txBox="1"/>
          <p:nvPr/>
        </p:nvSpPr>
        <p:spPr>
          <a:xfrm>
            <a:off x="8604504" y="22402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What this page shows</a:t>
            </a:r>
            <a:endParaRPr lang="en-US" sz="1800" dirty="0"/>
          </a:p>
        </p:txBody>
      </p:sp>
      <p:sp>
        <p:nvSpPr>
          <p:cNvPr id="11" name="Panel list"/>
          <p:cNvSpPr txBox="1"/>
          <p:nvPr/>
        </p:nvSpPr>
        <p:spPr>
          <a:xfrm>
            <a:off x="8010144" y="2880360"/>
            <a:ext cx="3355848" cy="287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Sales by customer segment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Customer sales versus profit scatter plot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Top 10 customers by sales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Sales by state map and sales by region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Filters for region, segment and year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C4758F-9DDC-48EF-F8F9-219259B322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19" t="21762" r="24216" b="8147"/>
          <a:stretch>
            <a:fillRect/>
          </a:stretch>
        </p:blipFill>
        <p:spPr>
          <a:xfrm>
            <a:off x="62594" y="1852806"/>
            <a:ext cx="7642279" cy="42445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4"/>
                </a:solidFill>
              </a:rPr>
              <a:t>DASHBOARD 4 OF 4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Shipping &amp; Operations Analysis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9BFDA"/>
                </a:solidFill>
              </a:rPr>
              <a:t>Reviewing shipping choices, payment mix and order patterns</a:t>
            </a:r>
            <a:endParaRPr lang="en-US" sz="1600" dirty="0"/>
          </a:p>
        </p:txBody>
      </p:sp>
      <p:sp>
        <p:nvSpPr>
          <p:cNvPr id="5" name="Dashboard frame"/>
          <p:cNvSpPr/>
          <p:nvPr/>
        </p:nvSpPr>
        <p:spPr>
          <a:xfrm>
            <a:off x="548640" y="2011680"/>
            <a:ext cx="6867144" cy="3926776"/>
          </a:xfrm>
          <a:prstGeom prst="roundRect">
            <a:avLst>
              <a:gd name="adj" fmla="val 232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Dashboard screenshot" descr="Shipping &amp; Operations Analysis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84832"/>
            <a:ext cx="6720840" cy="3780472"/>
          </a:xfrm>
          <a:prstGeom prst="rect">
            <a:avLst/>
          </a:prstGeom>
        </p:spPr>
      </p:pic>
      <p:sp>
        <p:nvSpPr>
          <p:cNvPr id="7" name="Info panel"/>
          <p:cNvSpPr/>
          <p:nvPr/>
        </p:nvSpPr>
        <p:spPr>
          <a:xfrm>
            <a:off x="7735824" y="2011680"/>
            <a:ext cx="3904488" cy="3926776"/>
          </a:xfrm>
          <a:prstGeom prst="roundRect">
            <a:avLst>
              <a:gd name="adj" fmla="val 2810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Page circle"/>
          <p:cNvSpPr/>
          <p:nvPr/>
        </p:nvSpPr>
        <p:spPr>
          <a:xfrm>
            <a:off x="8010144" y="22402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Page icon" descr="Tru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2354580"/>
            <a:ext cx="228600" cy="228600"/>
          </a:xfrm>
          <a:prstGeom prst="rect">
            <a:avLst/>
          </a:prstGeom>
        </p:spPr>
      </p:pic>
      <p:sp>
        <p:nvSpPr>
          <p:cNvPr id="10" name="Panel heading"/>
          <p:cNvSpPr txBox="1"/>
          <p:nvPr/>
        </p:nvSpPr>
        <p:spPr>
          <a:xfrm>
            <a:off x="8604504" y="22402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What this page shows</a:t>
            </a:r>
            <a:endParaRPr lang="en-US" sz="1800" dirty="0"/>
          </a:p>
        </p:txBody>
      </p:sp>
      <p:sp>
        <p:nvSpPr>
          <p:cNvPr id="11" name="Panel list"/>
          <p:cNvSpPr txBox="1"/>
          <p:nvPr/>
        </p:nvSpPr>
        <p:spPr>
          <a:xfrm>
            <a:off x="8010144" y="2880360"/>
            <a:ext cx="3355848" cy="287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Orders by ship mode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Sales by payment mode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Average shipping-time KPI and comparison by ship mode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Monthly order trend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6E9F7"/>
                </a:solidFill>
              </a:rPr>
              <a:t>Filters for ship mode, payment mode and year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486878-3812-EEAD-45E1-ADBDDC12AF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507" t="22394" r="24216" b="8146"/>
          <a:stretch>
            <a:fillRect/>
          </a:stretch>
        </p:blipFill>
        <p:spPr>
          <a:xfrm>
            <a:off x="36440" y="1943365"/>
            <a:ext cx="7699384" cy="4230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WHAT TO LOOK FOR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Key Insights to Investigate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Use the report to validate patterns rather than relying on a single headline number</a:t>
            </a:r>
            <a:endParaRPr lang="en-US" sz="1600" dirty="0"/>
          </a:p>
        </p:txBody>
      </p:sp>
      <p:sp>
        <p:nvSpPr>
          <p:cNvPr id="5" name="Insight card 1"/>
          <p:cNvSpPr/>
          <p:nvPr/>
        </p:nvSpPr>
        <p:spPr>
          <a:xfrm>
            <a:off x="548640" y="1920240"/>
            <a:ext cx="3514344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Insight 1 circle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nsight 1 icon" descr="DollarSig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86000"/>
            <a:ext cx="274320" cy="274320"/>
          </a:xfrm>
          <a:prstGeom prst="rect">
            <a:avLst/>
          </a:prstGeom>
        </p:spPr>
      </p:pic>
      <p:sp>
        <p:nvSpPr>
          <p:cNvPr id="8" name="Insight heading 1"/>
          <p:cNvSpPr txBox="1"/>
          <p:nvPr/>
        </p:nvSpPr>
        <p:spPr>
          <a:xfrm>
            <a:off x="1554480" y="2148840"/>
            <a:ext cx="2279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Revenue &amp; profitability</a:t>
            </a:r>
            <a:endParaRPr lang="en-US" sz="1800" dirty="0"/>
          </a:p>
        </p:txBody>
      </p:sp>
      <p:sp>
        <p:nvSpPr>
          <p:cNvPr id="9" name="Insight text 1"/>
          <p:cNvSpPr txBox="1"/>
          <p:nvPr/>
        </p:nvSpPr>
        <p:spPr>
          <a:xfrm>
            <a:off x="822960" y="28346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Compare sales and profit together; high revenue does not always mean high profit.</a:t>
            </a:r>
            <a:endParaRPr lang="en-US" sz="1400" dirty="0"/>
          </a:p>
        </p:txBody>
      </p:sp>
      <p:sp>
        <p:nvSpPr>
          <p:cNvPr id="10" name="Insight card 2"/>
          <p:cNvSpPr/>
          <p:nvPr/>
        </p:nvSpPr>
        <p:spPr>
          <a:xfrm>
            <a:off x="4337304" y="1920240"/>
            <a:ext cx="3514344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Insight 2 circle"/>
          <p:cNvSpPr/>
          <p:nvPr/>
        </p:nvSpPr>
        <p:spPr>
          <a:xfrm>
            <a:off x="4611624" y="21488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nsight 2 icon" descr="BoxOp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784" y="2286000"/>
            <a:ext cx="274320" cy="274320"/>
          </a:xfrm>
          <a:prstGeom prst="rect">
            <a:avLst/>
          </a:prstGeom>
        </p:spPr>
      </p:pic>
      <p:sp>
        <p:nvSpPr>
          <p:cNvPr id="13" name="Insight heading 2"/>
          <p:cNvSpPr txBox="1"/>
          <p:nvPr/>
        </p:nvSpPr>
        <p:spPr>
          <a:xfrm>
            <a:off x="5343144" y="2148840"/>
            <a:ext cx="2279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Product performance</a:t>
            </a:r>
            <a:endParaRPr lang="en-US" sz="1800" dirty="0"/>
          </a:p>
        </p:txBody>
      </p:sp>
      <p:sp>
        <p:nvSpPr>
          <p:cNvPr id="14" name="Insight text 2"/>
          <p:cNvSpPr txBox="1"/>
          <p:nvPr/>
        </p:nvSpPr>
        <p:spPr>
          <a:xfrm>
            <a:off x="4611624" y="28346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Look for categories and sub-categories that contribute strongly—or weakly—to profit.</a:t>
            </a:r>
            <a:endParaRPr lang="en-US" sz="1400" dirty="0"/>
          </a:p>
        </p:txBody>
      </p:sp>
      <p:sp>
        <p:nvSpPr>
          <p:cNvPr id="15" name="Insight card 3"/>
          <p:cNvSpPr/>
          <p:nvPr/>
        </p:nvSpPr>
        <p:spPr>
          <a:xfrm>
            <a:off x="8125968" y="1920240"/>
            <a:ext cx="3514344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Insight 3 circle"/>
          <p:cNvSpPr/>
          <p:nvPr/>
        </p:nvSpPr>
        <p:spPr>
          <a:xfrm>
            <a:off x="8400288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nsight 3 icon" descr="MapMarked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448" y="2286000"/>
            <a:ext cx="274320" cy="274320"/>
          </a:xfrm>
          <a:prstGeom prst="rect">
            <a:avLst/>
          </a:prstGeom>
        </p:spPr>
      </p:pic>
      <p:sp>
        <p:nvSpPr>
          <p:cNvPr id="18" name="Insight heading 3"/>
          <p:cNvSpPr txBox="1"/>
          <p:nvPr/>
        </p:nvSpPr>
        <p:spPr>
          <a:xfrm>
            <a:off x="9131808" y="2148840"/>
            <a:ext cx="2279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Customer &amp; region</a:t>
            </a:r>
            <a:endParaRPr lang="en-US" sz="1800" dirty="0"/>
          </a:p>
        </p:txBody>
      </p:sp>
      <p:sp>
        <p:nvSpPr>
          <p:cNvPr id="19" name="Insight text 3"/>
          <p:cNvSpPr txBox="1"/>
          <p:nvPr/>
        </p:nvSpPr>
        <p:spPr>
          <a:xfrm>
            <a:off x="8400288" y="28346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Identify high-value customers and compare sales across regions and states.</a:t>
            </a:r>
            <a:endParaRPr lang="en-US" sz="1400" dirty="0"/>
          </a:p>
        </p:txBody>
      </p:sp>
      <p:sp>
        <p:nvSpPr>
          <p:cNvPr id="20" name="Insight card 4"/>
          <p:cNvSpPr/>
          <p:nvPr/>
        </p:nvSpPr>
        <p:spPr>
          <a:xfrm>
            <a:off x="548640" y="3840480"/>
            <a:ext cx="5408676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Insight 4 circle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nsight 4 icon" descr="ShippingFas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206240"/>
            <a:ext cx="274320" cy="274320"/>
          </a:xfrm>
          <a:prstGeom prst="rect">
            <a:avLst/>
          </a:prstGeom>
        </p:spPr>
      </p:pic>
      <p:sp>
        <p:nvSpPr>
          <p:cNvPr id="23" name="Insight heading 4"/>
          <p:cNvSpPr txBox="1"/>
          <p:nvPr/>
        </p:nvSpPr>
        <p:spPr>
          <a:xfrm>
            <a:off x="1554480" y="4069080"/>
            <a:ext cx="4174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Shipping patterns</a:t>
            </a:r>
            <a:endParaRPr lang="en-US" sz="1800" dirty="0"/>
          </a:p>
        </p:txBody>
      </p:sp>
      <p:sp>
        <p:nvSpPr>
          <p:cNvPr id="24" name="Insight text 4"/>
          <p:cNvSpPr txBox="1"/>
          <p:nvPr/>
        </p:nvSpPr>
        <p:spPr>
          <a:xfrm>
            <a:off x="822960" y="475488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Compare average order-to-ship time across shipping modes.</a:t>
            </a:r>
            <a:endParaRPr lang="en-US" sz="1400" dirty="0"/>
          </a:p>
        </p:txBody>
      </p:sp>
      <p:sp>
        <p:nvSpPr>
          <p:cNvPr id="25" name="Insight card 5"/>
          <p:cNvSpPr/>
          <p:nvPr/>
        </p:nvSpPr>
        <p:spPr>
          <a:xfrm>
            <a:off x="6231636" y="3840480"/>
            <a:ext cx="5408676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Insight 5 circle"/>
          <p:cNvSpPr/>
          <p:nvPr/>
        </p:nvSpPr>
        <p:spPr>
          <a:xfrm>
            <a:off x="6505956" y="4069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nsight 5 icon" descr="CreditCard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4206240"/>
            <a:ext cx="274320" cy="274320"/>
          </a:xfrm>
          <a:prstGeom prst="rect">
            <a:avLst/>
          </a:prstGeom>
        </p:spPr>
      </p:pic>
      <p:sp>
        <p:nvSpPr>
          <p:cNvPr id="28" name="Insight heading 5"/>
          <p:cNvSpPr txBox="1"/>
          <p:nvPr/>
        </p:nvSpPr>
        <p:spPr>
          <a:xfrm>
            <a:off x="7237476" y="4069080"/>
            <a:ext cx="4174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Payment mix</a:t>
            </a:r>
            <a:endParaRPr lang="en-US" sz="1800" dirty="0"/>
          </a:p>
        </p:txBody>
      </p:sp>
      <p:sp>
        <p:nvSpPr>
          <p:cNvPr id="29" name="Insight text 5"/>
          <p:cNvSpPr txBox="1"/>
          <p:nvPr/>
        </p:nvSpPr>
        <p:spPr>
          <a:xfrm>
            <a:off x="6505956" y="475488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Check which payment modes contribute the largest share of sales.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Recommendations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Potential next steps suggested by the types of analysis in the dashboard</a:t>
            </a:r>
            <a:endParaRPr lang="en-US" sz="1600" dirty="0"/>
          </a:p>
        </p:txBody>
      </p:sp>
      <p:sp>
        <p:nvSpPr>
          <p:cNvPr id="5" name="Recommendation row 1"/>
          <p:cNvSpPr/>
          <p:nvPr/>
        </p:nvSpPr>
        <p:spPr>
          <a:xfrm>
            <a:off x="548640" y="1920240"/>
            <a:ext cx="11091672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Number badge 1"/>
          <p:cNvSpPr/>
          <p:nvPr/>
        </p:nvSpPr>
        <p:spPr>
          <a:xfrm>
            <a:off x="731520" y="201168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Number 1"/>
          <p:cNvSpPr txBox="1"/>
          <p:nvPr/>
        </p:nvSpPr>
        <p:spPr>
          <a:xfrm>
            <a:off x="73152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Recommendation text 1"/>
          <p:cNvSpPr txBox="1"/>
          <p:nvPr/>
        </p:nvSpPr>
        <p:spPr>
          <a:xfrm>
            <a:off x="1463040" y="1920240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 low-profit sub-categories</a:t>
            </a:r>
            <a:r>
              <a:rPr lang="en-US" sz="1600" dirty="0">
                <a:solidFill>
                  <a:schemeClr val="tx1"/>
                </a:solidFill>
              </a:rPr>
              <a:t> and investigate pricing, discounting and cost drivers.</a:t>
            </a:r>
            <a:endParaRPr lang="en-US" sz="1600" dirty="0"/>
          </a:p>
        </p:txBody>
      </p:sp>
      <p:sp>
        <p:nvSpPr>
          <p:cNvPr id="9" name="Recommendation row 2"/>
          <p:cNvSpPr/>
          <p:nvPr/>
        </p:nvSpPr>
        <p:spPr>
          <a:xfrm>
            <a:off x="548640" y="2743200"/>
            <a:ext cx="11091672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Number badge 2"/>
          <p:cNvSpPr/>
          <p:nvPr/>
        </p:nvSpPr>
        <p:spPr>
          <a:xfrm>
            <a:off x="731520" y="28346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Number 2"/>
          <p:cNvSpPr txBox="1"/>
          <p:nvPr/>
        </p:nvSpPr>
        <p:spPr>
          <a:xfrm>
            <a:off x="731520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Recommendation text 2"/>
          <p:cNvSpPr txBox="1"/>
          <p:nvPr/>
        </p:nvSpPr>
        <p:spPr>
          <a:xfrm>
            <a:off x="1463040" y="2743200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 the Top 10 product and customer views</a:t>
            </a:r>
            <a:r>
              <a:rPr lang="en-US" sz="1600" dirty="0">
                <a:solidFill>
                  <a:schemeClr val="tx1"/>
                </a:solidFill>
              </a:rPr>
              <a:t> to understand where sales are concentrated.</a:t>
            </a:r>
            <a:endParaRPr lang="en-US" sz="1600" dirty="0"/>
          </a:p>
        </p:txBody>
      </p:sp>
      <p:sp>
        <p:nvSpPr>
          <p:cNvPr id="13" name="Recommendation row 3"/>
          <p:cNvSpPr/>
          <p:nvPr/>
        </p:nvSpPr>
        <p:spPr>
          <a:xfrm>
            <a:off x="548640" y="3566160"/>
            <a:ext cx="11091672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Number badge 3"/>
          <p:cNvSpPr/>
          <p:nvPr/>
        </p:nvSpPr>
        <p:spPr>
          <a:xfrm>
            <a:off x="731520" y="3657600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Number 3"/>
          <p:cNvSpPr txBox="1"/>
          <p:nvPr/>
        </p:nvSpPr>
        <p:spPr>
          <a:xfrm>
            <a:off x="73152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Recommendation text 3"/>
          <p:cNvSpPr txBox="1"/>
          <p:nvPr/>
        </p:nvSpPr>
        <p:spPr>
          <a:xfrm>
            <a:off x="1463040" y="3566160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Compare regional performance</a:t>
            </a:r>
            <a:r>
              <a:rPr lang="en-US" sz="1600" dirty="0">
                <a:solidFill>
                  <a:schemeClr val="tx1"/>
                </a:solidFill>
              </a:rPr>
              <a:t> before deciding where to focus marketing or inventory.</a:t>
            </a:r>
            <a:endParaRPr lang="en-US" sz="1600" dirty="0"/>
          </a:p>
        </p:txBody>
      </p:sp>
      <p:sp>
        <p:nvSpPr>
          <p:cNvPr id="17" name="Recommendation row 4"/>
          <p:cNvSpPr/>
          <p:nvPr/>
        </p:nvSpPr>
        <p:spPr>
          <a:xfrm>
            <a:off x="548640" y="4389120"/>
            <a:ext cx="11091672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Number badge 4"/>
          <p:cNvSpPr/>
          <p:nvPr/>
        </p:nvSpPr>
        <p:spPr>
          <a:xfrm>
            <a:off x="731520" y="4480560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Number 4"/>
          <p:cNvSpPr txBox="1"/>
          <p:nvPr/>
        </p:nvSpPr>
        <p:spPr>
          <a:xfrm>
            <a:off x="731520" y="4480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Recommendation text 4"/>
          <p:cNvSpPr txBox="1"/>
          <p:nvPr/>
        </p:nvSpPr>
        <p:spPr>
          <a:xfrm>
            <a:off x="1463040" y="4389120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Monitor order-to-ship time</a:t>
            </a:r>
            <a:r>
              <a:rPr lang="en-US" sz="1600" dirty="0">
                <a:solidFill>
                  <a:schemeClr val="tx1"/>
                </a:solidFill>
              </a:rPr>
              <a:t> across shipping modes and investigate unusually long delays.</a:t>
            </a:r>
            <a:endParaRPr lang="en-US" sz="1600" dirty="0"/>
          </a:p>
        </p:txBody>
      </p:sp>
      <p:sp>
        <p:nvSpPr>
          <p:cNvPr id="21" name="Recommendation row 5"/>
          <p:cNvSpPr/>
          <p:nvPr/>
        </p:nvSpPr>
        <p:spPr>
          <a:xfrm>
            <a:off x="548640" y="5212080"/>
            <a:ext cx="11091672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Number badge 5"/>
          <p:cNvSpPr/>
          <p:nvPr/>
        </p:nvSpPr>
        <p:spPr>
          <a:xfrm>
            <a:off x="731520" y="5303520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Number 5"/>
          <p:cNvSpPr txBox="1"/>
          <p:nvPr/>
        </p:nvSpPr>
        <p:spPr>
          <a:xfrm>
            <a:off x="731520" y="5303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Recommendation text 5"/>
          <p:cNvSpPr txBox="1"/>
          <p:nvPr/>
        </p:nvSpPr>
        <p:spPr>
          <a:xfrm>
            <a:off x="1463040" y="5212080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 the slicers</a:t>
            </a:r>
            <a:r>
              <a:rPr lang="en-US" sz="1600" dirty="0">
                <a:solidFill>
                  <a:schemeClr val="tx1"/>
                </a:solidFill>
              </a:rPr>
              <a:t> to compare years, segments, regions and payment methods before drawing conclusions.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2"/>
                </a:solidFill>
              </a:rPr>
              <a:t>WRAP-UP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9BFDA"/>
                </a:solidFill>
              </a:rPr>
              <a:t>A single report for exploring retail performance from multiple angles</a:t>
            </a:r>
            <a:endParaRPr lang="en-US" sz="1600" dirty="0"/>
          </a:p>
        </p:txBody>
      </p:sp>
      <p:sp>
        <p:nvSpPr>
          <p:cNvPr id="5" name="Conclusion lead"/>
          <p:cNvSpPr txBox="1"/>
          <p:nvPr/>
        </p:nvSpPr>
        <p:spPr>
          <a:xfrm>
            <a:off x="548640" y="20116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This Power BI project brings together sales, product, customer, regional and operational views in one interactive report.</a:t>
            </a:r>
            <a:endParaRPr lang="en-US" sz="2200" dirty="0"/>
          </a:p>
        </p:txBody>
      </p:sp>
      <p:sp>
        <p:nvSpPr>
          <p:cNvPr id="6" name="Conclusion text"/>
          <p:cNvSpPr txBox="1"/>
          <p:nvPr/>
        </p:nvSpPr>
        <p:spPr>
          <a:xfrm>
            <a:off x="548640" y="3246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5D9EE"/>
                </a:solidFill>
              </a:rPr>
              <a:t>The four dashboards provide a foundation for asking better business questions, spotting patterns and supporting data-informed decisions.</a:t>
            </a:r>
            <a:endParaRPr lang="en-US" sz="1600" dirty="0"/>
          </a:p>
        </p:txBody>
      </p:sp>
      <p:sp>
        <p:nvSpPr>
          <p:cNvPr id="7" name="Thank you"/>
          <p:cNvSpPr txBox="1"/>
          <p:nvPr/>
        </p:nvSpPr>
        <p:spPr>
          <a:xfrm>
            <a:off x="7955280" y="2011680"/>
            <a:ext cx="3685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Pillar card 1"/>
          <p:cNvSpPr/>
          <p:nvPr/>
        </p:nvSpPr>
        <p:spPr>
          <a:xfrm>
            <a:off x="548640" y="4526280"/>
            <a:ext cx="2567178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Pillar 1 circle"/>
          <p:cNvSpPr/>
          <p:nvPr/>
        </p:nvSpPr>
        <p:spPr>
          <a:xfrm>
            <a:off x="822960" y="4800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Pillar 1 icon" descr="ChartLi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960620"/>
            <a:ext cx="320040" cy="320040"/>
          </a:xfrm>
          <a:prstGeom prst="rect">
            <a:avLst/>
          </a:prstGeom>
        </p:spPr>
      </p:pic>
      <p:sp>
        <p:nvSpPr>
          <p:cNvPr id="11" name="Pillar label 1"/>
          <p:cNvSpPr txBox="1"/>
          <p:nvPr/>
        </p:nvSpPr>
        <p:spPr>
          <a:xfrm>
            <a:off x="1600200" y="4800600"/>
            <a:ext cx="1378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/>
                </a:solidFill>
              </a:rPr>
              <a:t>SALES</a:t>
            </a:r>
            <a:endParaRPr lang="en-US" sz="1600" dirty="0"/>
          </a:p>
        </p:txBody>
      </p:sp>
      <p:sp>
        <p:nvSpPr>
          <p:cNvPr id="12" name="Pillar card 2"/>
          <p:cNvSpPr/>
          <p:nvPr/>
        </p:nvSpPr>
        <p:spPr>
          <a:xfrm>
            <a:off x="3390138" y="4526280"/>
            <a:ext cx="2567178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Pillar 2 circle"/>
          <p:cNvSpPr/>
          <p:nvPr/>
        </p:nvSpPr>
        <p:spPr>
          <a:xfrm>
            <a:off x="3664458" y="4800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Pillar 2 icon" descr="BoxOp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478" y="4960620"/>
            <a:ext cx="320040" cy="320040"/>
          </a:xfrm>
          <a:prstGeom prst="rect">
            <a:avLst/>
          </a:prstGeom>
        </p:spPr>
      </p:pic>
      <p:sp>
        <p:nvSpPr>
          <p:cNvPr id="15" name="Pillar label 2"/>
          <p:cNvSpPr txBox="1"/>
          <p:nvPr/>
        </p:nvSpPr>
        <p:spPr>
          <a:xfrm>
            <a:off x="4441698" y="4800600"/>
            <a:ext cx="1378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/>
                </a:solidFill>
              </a:rPr>
              <a:t>PRODUCTS</a:t>
            </a:r>
            <a:endParaRPr lang="en-US" sz="1600" dirty="0"/>
          </a:p>
        </p:txBody>
      </p:sp>
      <p:sp>
        <p:nvSpPr>
          <p:cNvPr id="16" name="Pillar card 3"/>
          <p:cNvSpPr/>
          <p:nvPr/>
        </p:nvSpPr>
        <p:spPr>
          <a:xfrm>
            <a:off x="6231636" y="4526280"/>
            <a:ext cx="2567178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Pillar 3 circle"/>
          <p:cNvSpPr/>
          <p:nvPr/>
        </p:nvSpPr>
        <p:spPr>
          <a:xfrm>
            <a:off x="6505956" y="4800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Pillar 3 icon" descr="Us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4960620"/>
            <a:ext cx="320040" cy="320040"/>
          </a:xfrm>
          <a:prstGeom prst="rect">
            <a:avLst/>
          </a:prstGeom>
        </p:spPr>
      </p:pic>
      <p:sp>
        <p:nvSpPr>
          <p:cNvPr id="19" name="Pillar label 3"/>
          <p:cNvSpPr txBox="1"/>
          <p:nvPr/>
        </p:nvSpPr>
        <p:spPr>
          <a:xfrm>
            <a:off x="7283196" y="4800600"/>
            <a:ext cx="1378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/>
                </a:solidFill>
              </a:rPr>
              <a:t>CUSTOMERS</a:t>
            </a:r>
            <a:endParaRPr lang="en-US" sz="1600" dirty="0"/>
          </a:p>
        </p:txBody>
      </p:sp>
      <p:sp>
        <p:nvSpPr>
          <p:cNvPr id="20" name="Pillar card 4"/>
          <p:cNvSpPr/>
          <p:nvPr/>
        </p:nvSpPr>
        <p:spPr>
          <a:xfrm>
            <a:off x="9073134" y="4526280"/>
            <a:ext cx="2567178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8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Pillar 4 circle"/>
          <p:cNvSpPr/>
          <p:nvPr/>
        </p:nvSpPr>
        <p:spPr>
          <a:xfrm>
            <a:off x="9347454" y="48006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Pillar 4 icon" descr="Tru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7474" y="4960620"/>
            <a:ext cx="320040" cy="320040"/>
          </a:xfrm>
          <a:prstGeom prst="rect">
            <a:avLst/>
          </a:prstGeom>
        </p:spPr>
      </p:pic>
      <p:sp>
        <p:nvSpPr>
          <p:cNvPr id="23" name="Pillar label 4"/>
          <p:cNvSpPr txBox="1"/>
          <p:nvPr/>
        </p:nvSpPr>
        <p:spPr>
          <a:xfrm>
            <a:off x="10124694" y="4800600"/>
            <a:ext cx="1378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B9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store Retail">
  <a:themeElements>
    <a:clrScheme name="Superstore Retail">
      <a:dk1>
        <a:srgbClr val="111827"/>
      </a:dk1>
      <a:lt1>
        <a:srgbClr val="FFFFFF"/>
      </a:lt1>
      <a:dk2>
        <a:srgbClr val="151B3A"/>
      </a:dk2>
      <a:lt2>
        <a:srgbClr val="F3F2F8"/>
      </a:lt2>
      <a:accent1>
        <a:srgbClr val="E0457B"/>
      </a:accent1>
      <a:accent2>
        <a:srgbClr val="2EC4B6"/>
      </a:accent2>
      <a:accent3>
        <a:srgbClr val="F4B942"/>
      </a:accent3>
      <a:accent4>
        <a:srgbClr val="7C83FD"/>
      </a:accent4>
      <a:accent5>
        <a:srgbClr val="9B5DE5"/>
      </a:accent5>
      <a:accent6>
        <a:srgbClr val="5B6478"/>
      </a:accent6>
      <a:hlink>
        <a:srgbClr val="2EC4B6"/>
      </a:hlink>
      <a:folHlink>
        <a:srgbClr val="7C83FD"/>
      </a:folHlink>
    </a:clrScheme>
    <a:fontScheme name="Superstore Retai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873</Words>
  <Application>Microsoft Office PowerPoint</Application>
  <PresentationFormat>Widescreen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Superstore Retail</vt:lpstr>
      <vt:lpstr>Retail Analytics</vt:lpstr>
      <vt:lpstr>Project Objective</vt:lpstr>
      <vt:lpstr>Dataset Overview</vt:lpstr>
      <vt:lpstr>Executive Sales Overview</vt:lpstr>
      <vt:lpstr>Product &amp; Category Analysis</vt:lpstr>
      <vt:lpstr>Customer &amp; Regional Analysis</vt:lpstr>
      <vt:lpstr>Shipping &amp; Operations Analysis</vt:lpstr>
      <vt:lpstr>Key Insights to Investigate</vt:lpstr>
      <vt:lpstr>Recommendations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Retail Analytics</dc:title>
  <dc:subject>PptxGenJS Presentation</dc:subject>
  <dc:creator>Vidhi Ahlawat</dc:creator>
  <cp:lastModifiedBy>V A</cp:lastModifiedBy>
  <cp:revision>7</cp:revision>
  <dcterms:created xsi:type="dcterms:W3CDTF">2026-10-09T08:56:21Z</dcterms:created>
  <dcterms:modified xsi:type="dcterms:W3CDTF">2026-10-09T09:18:40Z</dcterms:modified>
</cp:coreProperties>
</file>